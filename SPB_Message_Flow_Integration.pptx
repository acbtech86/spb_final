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8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003366"/>
                </a:solidFill>
              </a:defRPr>
            </a:pPr>
            <a:r>
              <a:t>SPB Message Flow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62895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3200">
                <a:solidFill>
                  <a:srgbClr val="4472C4"/>
                </a:solidFill>
              </a:defRPr>
            </a:pPr>
            <a:r>
              <a:t>Complete Integration Test with Automated BACEN Response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 algn="ctr">
              <a:defRPr sz="2400">
                <a:solidFill>
                  <a:srgbClr val="646464"/>
                </a:solidFill>
              </a:defRPr>
            </a:pPr>
            <a:r>
              <a:t>IBM MQ • PostgreSQL • BACEN Auto Responder • SPBSite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366"/>
                </a:solidFill>
              </a:defRPr>
            </a:pPr>
            <a:r>
              <a:t>Complete Architecture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114800" y="914400"/>
            <a:ext cx="4114800" cy="731520"/>
          </a:xfrm>
          <a:prstGeom prst="roundRect">
            <a:avLst/>
          </a:prstGeom>
          <a:solidFill>
            <a:srgbClr val="C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Message Flow Test</a:t>
            </a:r>
          </a:p>
          <a:p>
            <a:r>
              <a:t>(test_message_flow.py)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286000"/>
            <a:ext cx="2743200" cy="1371600"/>
          </a:xfrm>
          <a:prstGeom prst="roundRect">
            <a:avLst/>
          </a:prstGeom>
          <a:solidFill>
            <a:srgbClr val="5B9BD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SPBSite Web Interface</a:t>
            </a:r>
          </a:p>
          <a:p>
            <a:r>
              <a:t>Port: 8000</a:t>
            </a:r>
          </a:p>
          <a:p/>
          <a:p>
            <a:r>
              <a:t>• Monitoring Pages</a:t>
            </a:r>
          </a:p>
          <a:p>
            <a:r>
              <a:t>• Message Viewer</a:t>
            </a:r>
          </a:p>
          <a:p>
            <a:r>
              <a:t>• API Docs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2286000"/>
            <a:ext cx="2743200" cy="1371600"/>
          </a:xfrm>
          <a:prstGeom prst="roundRect">
            <a:avLst/>
          </a:prstGeom>
          <a:solidFill>
            <a:srgbClr val="ED7D3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t>BACEN Auto Responder</a:t>
            </a:r>
          </a:p>
          <a:p>
            <a:r>
              <a:t>Poll: 0.5s</a:t>
            </a:r>
          </a:p>
          <a:p/>
          <a:p>
            <a:r>
              <a:t>• Auto Detect</a:t>
            </a:r>
          </a:p>
          <a:p>
            <a:r>
              <a:t>• Generate Response</a:t>
            </a:r>
          </a:p>
          <a:p>
            <a:r>
              <a:t>• UTF-16BE Encoding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2286000"/>
            <a:ext cx="2743200" cy="1371600"/>
          </a:xfrm>
          <a:prstGeom prst="roundRect">
            <a:avLst/>
          </a:prstGeom>
          <a:solidFill>
            <a:srgbClr val="FFC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IBM MQ 9.3.0.0</a:t>
            </a:r>
          </a:p>
          <a:p>
            <a:r>
              <a:t>QM.36266751.01</a:t>
            </a:r>
          </a:p>
          <a:p/>
          <a:p>
            <a:r>
              <a:t>• IF Staging Queues</a:t>
            </a:r>
          </a:p>
          <a:p>
            <a:r>
              <a:t>• BACEN Inbound</a:t>
            </a:r>
          </a:p>
          <a:p>
            <a:r>
              <a:t>• 14 Queues Total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4572000"/>
            <a:ext cx="5029200" cy="1371600"/>
          </a:xfrm>
          <a:prstGeom prst="roundRect">
            <a:avLst/>
          </a:prstGeom>
          <a:solidFill>
            <a:srgbClr val="70AD4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PostgreSQL Database (bcspbstr)</a:t>
            </a:r>
          </a:p>
          <a:p/>
          <a:p>
            <a:r>
              <a:t>• SPB_BACEN_TO_LOCAL • SPB_LOCAL_TO_BACEN • SPB_LOG_BACEN</a:t>
            </a:r>
          </a:p>
          <a:p>
            <a:r>
              <a:t>• 979 Message Types • 581 Field Types • 32,955 Fields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828800" y="1645920"/>
            <a:ext cx="274320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029200" y="1645920"/>
            <a:ext cx="114300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772400" y="1645920"/>
            <a:ext cx="457200" cy="64008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400800" y="2971800"/>
            <a:ext cx="457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828800" y="3657600"/>
            <a:ext cx="43434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5029200" y="3657600"/>
            <a:ext cx="11430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6172200" y="3657600"/>
            <a:ext cx="2057400" cy="9144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Step 1: Send Message to IF Staging Queue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2743200" cy="914400"/>
          </a:xfrm>
          <a:prstGeom prst="roundRect">
            <a:avLst/>
          </a:prstGeom>
          <a:solidFill>
            <a:srgbClr val="C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Test Script</a:t>
            </a:r>
          </a:p>
          <a:p>
            <a:r>
              <a:t>Sends GEN0001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0" y="1828800"/>
            <a:ext cx="22860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943600" y="1371600"/>
            <a:ext cx="4572000" cy="914400"/>
          </a:xfrm>
          <a:prstGeom prst="roundRect">
            <a:avLst/>
          </a:prstGeom>
          <a:solidFill>
            <a:srgbClr val="FFC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IF Staging Queue</a:t>
            </a:r>
          </a:p>
          <a:p>
            <a:r>
              <a:t>QL.36266751.01.ENTRADA.IF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00400"/>
            <a:ext cx="9601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323232"/>
                </a:solidFill>
              </a:defRPr>
            </a:pPr>
            <a:r>
              <a:t>Message Details:</a:t>
            </a:r>
          </a:p>
          <a:p>
            <a:r>
              <a:t>• Message Type: GEN0001 (Echo Request)</a:t>
            </a:r>
          </a:p>
          <a:p>
            <a:r>
              <a:t>• Sender: BACEN (00038166)</a:t>
            </a:r>
          </a:p>
          <a:p>
            <a:r>
              <a:t>• Receiver: FINVEST (36266751)</a:t>
            </a:r>
          </a:p>
          <a:p>
            <a:r>
              <a:t>• Encoding: UTF-16BE</a:t>
            </a:r>
          </a:p>
          <a:p>
            <a:r>
              <a:t>• Queue: IF Staging (Finvest Outbound)</a:t>
            </a:r>
          </a:p>
          <a:p>
            <a:r>
              <a:t>• Status: ✅ Message queued successfully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Step 2: BACEN Auto Responder Processes Message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3200400" cy="731520"/>
          </a:xfrm>
          <a:prstGeom prst="roundRect">
            <a:avLst/>
          </a:prstGeom>
          <a:solidFill>
            <a:srgbClr val="FFC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/>
            </a:pPr>
            <a:r>
              <a:t>IF Staging Queue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0" y="1737360"/>
            <a:ext cx="9144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029200" y="1097280"/>
            <a:ext cx="3657600" cy="1371600"/>
          </a:xfrm>
          <a:prstGeom prst="roundRect">
            <a:avLst/>
          </a:prstGeom>
          <a:solidFill>
            <a:srgbClr val="ED7D3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BACEN Auto Responder</a:t>
            </a:r>
          </a:p>
          <a:p/>
          <a:p>
            <a:r>
              <a:t>1. Detect message</a:t>
            </a:r>
          </a:p>
          <a:p>
            <a:r>
              <a:t>2. Decode UTF-16BE</a:t>
            </a:r>
          </a:p>
          <a:p>
            <a:r>
              <a:t>3. Parse XML</a:t>
            </a:r>
          </a:p>
          <a:p>
            <a:r>
              <a:t>4. Generate GEN0002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686800" y="1737360"/>
            <a:ext cx="9144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601200" y="1371600"/>
            <a:ext cx="1828800" cy="731520"/>
          </a:xfrm>
          <a:prstGeom prst="roundRect">
            <a:avLst/>
          </a:prstGeom>
          <a:solidFill>
            <a:srgbClr val="FFC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BACEN Inbound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515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Processing Details:</a:t>
            </a:r>
          </a:p>
          <a:p>
            <a:r>
              <a:t>• Poll Interval: 0.5 seconds</a:t>
            </a:r>
          </a:p>
          <a:p>
            <a:r>
              <a:t>• Detected: GEN0001 request in IF staging queue</a:t>
            </a:r>
          </a:p>
          <a:p>
            <a:r>
              <a:t>• Decoded: UTF-16BE with byte-swap → UTF-8</a:t>
            </a:r>
          </a:p>
          <a:p>
            <a:r>
              <a:t>• Parsed: Extracted NUOp, CodMsg, Emissor, Destinatário</a:t>
            </a:r>
          </a:p>
          <a:p>
            <a:r>
              <a:t>• Generated: GEN0002 response with success status (00)</a:t>
            </a:r>
          </a:p>
          <a:p>
            <a:r>
              <a:t>• Encoded: UTF-8 → UTF-16BE with byte-swap</a:t>
            </a:r>
          </a:p>
          <a:p>
            <a:r>
              <a:t>• Sent: Response to QL.REQ.00038166.36266751.01</a:t>
            </a:r>
          </a:p>
          <a:p>
            <a:r>
              <a:t>• Correlation ID: Matched to original message</a:t>
            </a:r>
          </a:p>
          <a:p>
            <a:r>
              <a:t>• Time: &lt; 2 seconds (automated)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Step 3: Database Storage &amp; SPBSite Display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371600"/>
            <a:ext cx="2743200" cy="731520"/>
          </a:xfrm>
          <a:prstGeom prst="roundRect">
            <a:avLst/>
          </a:prstGeom>
          <a:solidFill>
            <a:srgbClr val="FFC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BACEN Inbound Queue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657600" y="1737360"/>
            <a:ext cx="9144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4572000" y="1371600"/>
            <a:ext cx="2286000" cy="731520"/>
          </a:xfrm>
          <a:prstGeom prst="roundRect">
            <a:avLst/>
          </a:prstGeom>
          <a:solidFill>
            <a:srgbClr val="C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Test Retrieves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0" y="1737360"/>
            <a:ext cx="914400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7772400" y="1097280"/>
            <a:ext cx="3657600" cy="1371600"/>
          </a:xfrm>
          <a:prstGeom prst="roundRect">
            <a:avLst/>
          </a:prstGeom>
          <a:solidFill>
            <a:srgbClr val="70AD4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PostgreSQL (bcspbstr)</a:t>
            </a:r>
          </a:p>
          <a:p/>
          <a:p>
            <a:r>
              <a:t>SPB_LOG_BACEN</a:t>
            </a:r>
          </a:p>
          <a:p>
            <a:r>
              <a:t>SPB_BACEN_TO_LOCAL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200400"/>
            <a:ext cx="6858000" cy="1097280"/>
          </a:xfrm>
          <a:prstGeom prst="roundRect">
            <a:avLst/>
          </a:prstGeom>
          <a:solidFill>
            <a:srgbClr val="5B9BD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SPBSite Web Interface</a:t>
            </a:r>
          </a:p>
          <a:p>
            <a:r>
              <a:t>http://localhost:8000/monitoring/messages/inbound/bacen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6172200" y="2468880"/>
            <a:ext cx="3429000" cy="73152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914400" y="475488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23232"/>
                </a:solidFill>
              </a:defRPr>
            </a:pPr>
            <a:r>
              <a:t>Storage &amp; Display:</a:t>
            </a:r>
          </a:p>
          <a:p>
            <a:r>
              <a:t>• SPB_LOG_BACEN: Transaction log with complete message XML</a:t>
            </a:r>
          </a:p>
          <a:p>
            <a:r>
              <a:t>• SPB_BACEN_TO_LOCAL: Application table (Status: P, Flag: N)</a:t>
            </a:r>
          </a:p>
          <a:p>
            <a:r>
              <a:t>• SPBSite: Real-time web monitoring - view messages through browser</a:t>
            </a:r>
          </a:p>
          <a:p>
            <a:r>
              <a:t>• Access: http://localhost:8000 for complete message details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Integration Test Results - All Systems Passing 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601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006400"/>
                </a:solidFill>
              </a:defRPr>
            </a:pPr>
            <a:r>
              <a:t>Test Summary (7/7 Passing):</a:t>
            </a:r>
          </a:p>
          <a:p/>
          <a:p>
            <a:r>
              <a:t>✅ Test 1: Send Message to IF Staging Queue - PASSED</a:t>
            </a:r>
          </a:p>
          <a:p>
            <a:r>
              <a:t>✅ Test 2: Retrieve BACEN Auto-Response - PASSED</a:t>
            </a:r>
          </a:p>
          <a:p>
            <a:r>
              <a:t>✅ Test 3: Log BACEN Response to Database - PASSED</a:t>
            </a:r>
          </a:p>
          <a:p>
            <a:r>
              <a:t>✅ Test 4: Store BACEN Response in App Table - PASSED</a:t>
            </a:r>
          </a:p>
          <a:p>
            <a:r>
              <a:t>✅ Test 5: Verify BACEN Auto Responder - PASSED</a:t>
            </a:r>
          </a:p>
          <a:p>
            <a:r>
              <a:t>✅ Test 6: Verify SPBSite Integration - PASSED</a:t>
            </a:r>
          </a:p>
          <a:p>
            <a:r>
              <a:t>✅ Test 7: Verify Complete Flow - PASSED</a:t>
            </a:r>
          </a:p>
          <a:p/>
          <a:p>
            <a:r>
              <a:t>Statistics:</a:t>
            </a:r>
          </a:p>
          <a:p>
            <a:r>
              <a:t>• Messages Processed: 1</a:t>
            </a:r>
          </a:p>
          <a:p>
            <a:r>
              <a:t>• Responses Sent: 1</a:t>
            </a:r>
          </a:p>
          <a:p>
            <a:r>
              <a:t>• Errors: 0</a:t>
            </a:r>
          </a:p>
          <a:p>
            <a:r>
              <a:t>• Duration: ~10 seconds</a:t>
            </a:r>
          </a:p>
          <a:p>
            <a:r>
              <a:t>• Automation Level: 100% (no manual intervention)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5669280"/>
            <a:ext cx="6858000" cy="731520"/>
          </a:xfrm>
          <a:prstGeom prst="roundRect">
            <a:avLst/>
          </a:prstGeom>
          <a:solidFill>
            <a:srgbClr val="00B05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🎉 All Tests Passed! Complete Integration Working! 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729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Integrated Components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2011680"/>
          </a:xfrm>
          <a:prstGeom prst="roundRect">
            <a:avLst/>
          </a:prstGeom>
          <a:solidFill>
            <a:srgbClr val="FFC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000000"/>
                </a:solidFill>
              </a:defRPr>
            </a:pPr>
            <a:r>
              <a:t>IBM MQ 9.3.0.0</a:t>
            </a:r>
          </a:p>
          <a:p/>
          <a:p>
            <a:r>
              <a:t>• Queue Manager: QM.36266751.01</a:t>
            </a:r>
          </a:p>
          <a:p>
            <a:r>
              <a:t>• Channel: FINVEST.SVRCONN</a:t>
            </a:r>
          </a:p>
          <a:p>
            <a:r>
              <a:t>• Port: 1414</a:t>
            </a:r>
          </a:p>
          <a:p>
            <a:r>
              <a:t>• Queues: 14 (IF + BACEN)</a:t>
            </a:r>
          </a:p>
          <a:p>
            <a:r>
              <a:t>• Auto-start: systemd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72200" y="1371600"/>
            <a:ext cx="5486400" cy="2011680"/>
          </a:xfrm>
          <a:prstGeom prst="roundRect">
            <a:avLst/>
          </a:prstGeom>
          <a:solidFill>
            <a:srgbClr val="70AD4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PostgreSQL 16.13</a:t>
            </a:r>
          </a:p>
          <a:p/>
          <a:p>
            <a:r>
              <a:t>• Database: bcspbstr</a:t>
            </a:r>
          </a:p>
          <a:p>
            <a:r>
              <a:t>• Tables: 7</a:t>
            </a:r>
          </a:p>
          <a:p>
            <a:r>
              <a:t>• Messages: 979 types</a:t>
            </a:r>
          </a:p>
          <a:p>
            <a:r>
              <a:t>• Fields: 32,955 definitions</a:t>
            </a:r>
          </a:p>
          <a:p>
            <a:r>
              <a:t>• Drivers: psycopg2, asyncpg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840480"/>
            <a:ext cx="5486400" cy="2011680"/>
          </a:xfrm>
          <a:prstGeom prst="roundRect">
            <a:avLst/>
          </a:prstGeom>
          <a:solidFill>
            <a:srgbClr val="ED7D31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BACEN Auto Responder</a:t>
            </a:r>
          </a:p>
          <a:p/>
          <a:p>
            <a:r>
              <a:t>• Auto message processing</a:t>
            </a:r>
          </a:p>
          <a:p>
            <a:r>
              <a:t>• UTF-16BE encoding</a:t>
            </a:r>
          </a:p>
          <a:p>
            <a:r>
              <a:t>• Poll interval: 0.5s</a:t>
            </a:r>
          </a:p>
          <a:p>
            <a:r>
              <a:t>• Response generation</a:t>
            </a:r>
          </a:p>
          <a:p>
            <a:r>
              <a:t>• Statistics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3840480"/>
            <a:ext cx="5486400" cy="2011680"/>
          </a:xfrm>
          <a:prstGeom prst="roundRect">
            <a:avLst/>
          </a:prstGeom>
          <a:solidFill>
            <a:srgbClr val="5B9BD5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SPBSite Web Interface</a:t>
            </a:r>
          </a:p>
          <a:p/>
          <a:p>
            <a:r>
              <a:t>• FastAPI + Uvicorn</a:t>
            </a:r>
          </a:p>
          <a:p>
            <a:r>
              <a:t>• Port: 8000</a:t>
            </a:r>
          </a:p>
          <a:p>
            <a:r>
              <a:t>• Monitoring pages</a:t>
            </a:r>
          </a:p>
          <a:p>
            <a:r>
              <a:t>• Message viewer</a:t>
            </a:r>
          </a:p>
          <a:p>
            <a:r>
              <a:t>• API documentation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